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19141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9141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DB95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3B3B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A: content only (38)</c:v>
                  </c:pt>
                  <c:pt idx="1">
                    <c:v>B: + artist reach (41)</c:v>
                  </c:pt>
                  <c:pt idx="2">
                    <c:v>C: + artist popularity (43, leaky)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0.61</c:v>
                </c:pt>
                <c:pt idx="1">
                  <c:v>0.68</c:v>
                </c:pt>
                <c:pt idx="2">
                  <c:v>0.705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91440" cy="13716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1430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Track Popularity Prediction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Predictive Analytics Model (KDD Process)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 track’s 0–100 popularity score from audio, release and artist data  |  2 datasets  |  586,601 tracks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Abhinava Akash Kotha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23070521075  ·  B.Tech CSE (AI/ML), 7th Semester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Symbiosis Institute of Technology, Nagpur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1414"/>
          </a:solidFill>
          <a:ln w="12700">
            <a:solidFill>
              <a:srgbClr val="191414"/>
            </a:solidFill>
            <a:prstDash val="solid"/>
          </a:ln>
        </p:spPr>
      </p:sp>
      <p:sp>
        <p:nvSpPr>
          <p:cNvPr id="3" name="Accent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Problem &amp; Data Selection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914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840480" cy="3611880"/>
          </a:xfrm>
          <a:prstGeom prst="rect">
            <a:avLst/>
          </a:prstGeom>
          <a:solidFill>
            <a:srgbClr val="F4F7F5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64008" cy="361188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1247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1732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</a:t>
            </a:r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how popular a track is before it is released?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</a:t>
            </a:r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regression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(0–100, based mainly on recent plays)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</a:t>
            </a:r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(primary), MAE, R²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</a:t>
            </a:r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training-set mean for every track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051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datasets (Kaggle: Spotify Dataset 1921–2020, 600k+ Tracks)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554480"/>
          <a:ext cx="41148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97280"/>
                <a:gridCol w="21031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41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tracks.csv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586,672 × 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features, popularity, release date, artist IDs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artists.csv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1,162,095 ×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Followers, genres, artist popularity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4572000" y="33375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automatically in code with kagglehub – no manual download. Repo holds small samples because tracks.csv exceeds GitHub’s 100 MB limit.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1414"/>
          </a:solidFill>
          <a:ln w="12700">
            <a:solidFill>
              <a:srgbClr val="191414"/>
            </a:solidFill>
            <a:prstDash val="solid"/>
          </a:ln>
        </p:spPr>
      </p:sp>
      <p:sp>
        <p:nvSpPr>
          <p:cNvPr id="3" name="Accent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Integration &amp; Pre-processing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914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23360" cy="3611880"/>
          </a:xfrm>
          <a:prstGeom prst="rect">
            <a:avLst/>
          </a:prstGeom>
          <a:solidFill>
            <a:srgbClr val="F4F7F5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64008" cy="361188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1247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(join the two datasets)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1732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track can have several artists, so a simple 1-to-1 merge is not possible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IDs parsed from id_artists (a string-encoded list)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track: mean and max followers across its artists; genres of the primary artist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98.2% of tracks linked to at least one artist record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023360" cy="3611880"/>
          </a:xfrm>
          <a:prstGeom prst="rect">
            <a:avLst/>
          </a:prstGeom>
          <a:solidFill>
            <a:srgbClr val="F4F7F5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51560"/>
            <a:ext cx="64008" cy="361188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1247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41732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duplicate / unnamed rows removed → 586,601 tracks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year parsed from mixed date formats (kept 1900–2021)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values set to missing: tempo = 0 (328 rows), time_signature = 0 (337 rows)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capped at the 99.9th percentile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gaps (e.g. 10,475 tracks without artist info) imputed by median inside the pipeline, fitted on training data only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1414"/>
          </a:solidFill>
          <a:ln w="12700">
            <a:solidFill>
              <a:srgbClr val="191414"/>
            </a:solidFill>
            <a:prstDash val="solid"/>
          </a:ln>
        </p:spPr>
      </p:sp>
      <p:sp>
        <p:nvSpPr>
          <p:cNvPr id="3" name="Accent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Feature Engineering &amp; EDA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914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23360" cy="3611880"/>
          </a:xfrm>
          <a:prstGeom prst="rect">
            <a:avLst/>
          </a:prstGeom>
          <a:solidFill>
            <a:srgbClr val="F4F7F5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64008" cy="361188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1247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features in the main model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1732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(12):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danceability, energy, loudness, acousticness, valence, tempo …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(7):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duration, explicit, track_age, n_artists, title length / words, has_feat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reach (3):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 of mean / max followers, has_artist_info (log: followers are heavily skewed)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 (19):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genre_count + 18 broad-genre flags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Excluded: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popularity (target leakage – tested separately)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023360" cy="3611880"/>
          </a:xfrm>
          <a:prstGeom prst="rect">
            <a:avLst/>
          </a:prstGeom>
          <a:solidFill>
            <a:srgbClr val="F4F7F5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51560"/>
            <a:ext cx="64008" cy="361188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1247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EDA showed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41732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27.6, SD 18.4; 7.6% of tracks score exactly 0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Trend: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popularity rises from ~0 (pre-1950 releases) to ~40 (2000s onward) – a recency effect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popularity: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track_age −0.59, log followers +0.49, acousticness −0.37, loudness +0.33, energy +0.30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look non-linear, so tree models are worth testing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1414"/>
          </a:solidFill>
          <a:ln w="12700">
            <a:solidFill>
              <a:srgbClr val="191414"/>
            </a:solidFill>
            <a:prstDash val="solid"/>
          </a:ln>
        </p:spPr>
      </p:sp>
      <p:sp>
        <p:nvSpPr>
          <p:cNvPr id="3" name="Accent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Modelling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914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05840"/>
            <a:ext cx="4297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150,000-track sample (Colab compute limit) → 80/20 split = 120,000 train / 30,000 test (seed 42)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baseline, Linear, Ridge, Random Forest, Histogram Gradient Boosting (HGB)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Pipelines: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 (+ standard scaling for linear models)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3-fold CV on a 40,000-row training subsample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Tuning: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on HGB – 10 configurations × 3 folds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RMSE (lower is better)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371600"/>
          <a:ext cx="3657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41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(mean)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HGB (default)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HGB (tuned)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029200" y="3566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tuned settings: learning rate 0.03, max depth 10, 127 leaf nodes, 400 iterations, min 50 samples per leaf.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1414"/>
          </a:solidFill>
          <a:ln w="12700">
            <a:solidFill>
              <a:srgbClr val="191414"/>
            </a:solidFill>
            <a:prstDash val="solid"/>
          </a:ln>
        </p:spPr>
      </p:sp>
      <p:sp>
        <p:nvSpPr>
          <p:cNvPr id="3" name="Accent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Evaluation on the Untouched Test Set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914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206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822960"/>
                <a:gridCol w="82296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41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7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HGB (tuned)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(mean)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01752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HGB is best: RMSE 10.40 vs 18.37 for the baseline (−43%)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explains 68% of the variance (R² = 0.68)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is very close (10.51); the tuning gain over it is small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models are far behind → non-linear effects matter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93776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R² by feature set (tuned HGB)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846320" y="1325880"/>
          <a:ext cx="39319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937760" y="37947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is the honest main model. C looks better only because artist popularity is computed from track popularity (leakage).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1414"/>
          </a:solidFill>
          <a:ln w="12700">
            <a:solidFill>
              <a:srgbClr val="191414"/>
            </a:solidFill>
            <a:prstDash val="solid"/>
          </a:ln>
        </p:spPr>
      </p:sp>
      <p:sp>
        <p:nvSpPr>
          <p:cNvPr id="3" name="Accent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Interpretation, Limitations &amp; Conclusion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914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2377440"/>
          </a:xfrm>
          <a:prstGeom prst="rect">
            <a:avLst/>
          </a:prstGeom>
          <a:solidFill>
            <a:srgbClr val="F4F7F5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64008" cy="23774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0789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the predictions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371600"/>
            <a:ext cx="3749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 (ΔRMSE):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track_age 7.67; log followers max 1.78 / mean 1.75; genre_count 0.34; pop genre 0.31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pattern: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over-predicts low tracks (popularity 1–20: mean residual −6.5), under-predicts hits (61–80: +15.3; 81–100: +26.0, only 41 tracks) – regression to the mean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2377440"/>
          </a:xfrm>
          <a:prstGeom prst="rect">
            <a:avLst/>
          </a:prstGeom>
          <a:solidFill>
            <a:srgbClr val="F4F7F5"/>
          </a:solidFill>
          <a:ln w="9525">
            <a:solidFill>
              <a:srgbClr val="DDE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05840"/>
            <a:ext cx="64008" cy="23774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0789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371600"/>
            <a:ext cx="3749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split, not time-based; popularity is a 2021 snapshot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“audio only” – it includes track_age, so its R² of 0.61 is largely recency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 are also a snapshot value; only primary-artist genres used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150k of the 586k tracks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1143000"/>
          </a:xfrm>
          <a:prstGeom prst="rect">
            <a:avLst/>
          </a:prstGeom>
          <a:solidFill>
            <a:srgbClr val="191414"/>
          </a:solidFill>
          <a:ln w="12700">
            <a:solidFill>
              <a:srgbClr val="1914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61188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recency and artist reach explain most of a track’s popularity; audio features add a smaller share. Tuned gradient boosting reaches R² 0.68 (RMSE 10.4). Future work: time-based validation, playlist and lyric features, hit / non-hit classification.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Spotify Track Popularity Prediction</dc:title>
  <dc:subject>PptxGenJS Presentation</dc:subject>
  <dc:creator>Abhinava Akash Kotha</dc:creator>
  <cp:lastModifiedBy>Abhinava Akash Kotha</cp:lastModifiedBy>
  <cp:revision>1</cp:revision>
  <dcterms:created xsi:type="dcterms:W3CDTF">2026-10-21T05:13:42Z</dcterms:created>
  <dcterms:modified xsi:type="dcterms:W3CDTF">2026-10-21T05:13:42Z</dcterms:modified>
</cp:coreProperties>
</file>